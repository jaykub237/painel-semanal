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760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2A33"/>
                </a:solidFill>
                <a:latin typeface="Arial"/>
              </a:rPr>
              <a:t>Os três eixos temáticos e sua interseção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5A66"/>
                </a:solidFill>
                <a:latin typeface="Arial"/>
              </a:rPr>
              <a:t>Segurança e sustentabilidade na Amazônia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234440"/>
            <a:ext cx="2743200" cy="2743200"/>
          </a:xfrm>
          <a:prstGeom prst="ellipse">
            <a:avLst/>
          </a:prstGeom>
          <a:solidFill>
            <a:srgbClr val="264B63">
              <a:alpha val="24000"/>
            </a:srgbClr>
          </a:solidFill>
          <a:ln w="15240">
            <a:solidFill>
              <a:srgbClr val="264B6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0" y="1234440"/>
            <a:ext cx="2743200" cy="2743200"/>
          </a:xfrm>
          <a:prstGeom prst="ellipse">
            <a:avLst/>
          </a:prstGeom>
          <a:solidFill>
            <a:srgbClr val="DFE635">
              <a:alpha val="38000"/>
            </a:srgbClr>
          </a:solidFill>
          <a:ln w="15240">
            <a:solidFill>
              <a:srgbClr val="C2CB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03520" y="1234440"/>
            <a:ext cx="2743200" cy="2743200"/>
          </a:xfrm>
          <a:prstGeom prst="ellipse">
            <a:avLst/>
          </a:prstGeom>
          <a:solidFill>
            <a:srgbClr val="1A9E6E">
              <a:alpha val="26000"/>
            </a:srgbClr>
          </a:solidFill>
          <a:ln w="15240">
            <a:solidFill>
              <a:srgbClr val="12925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spc="300">
                <a:solidFill>
                  <a:srgbClr val="1F4A63"/>
                </a:solidFill>
                <a:latin typeface="Arial"/>
              </a:rPr>
              <a:t>EIXO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3230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Soberania, Defesa</a:t>
            </a:r>
          </a:p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e Presença Estatal</a:t>
            </a:r>
          </a:p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Integrada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1945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spc="300">
                <a:solidFill>
                  <a:srgbClr val="1F4A63"/>
                </a:solidFill>
                <a:latin typeface="Arial"/>
              </a:rPr>
              <a:t>EIXO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43230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Bioeconomia e</a:t>
            </a:r>
          </a:p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Economias Ilícitas</a:t>
            </a:r>
          </a:p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na Amazônia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spc="300">
                <a:solidFill>
                  <a:srgbClr val="1F4A63"/>
                </a:solidFill>
                <a:latin typeface="Arial"/>
              </a:rPr>
              <a:t>EIXO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3230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Governança e</a:t>
            </a:r>
          </a:p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Fortalecimento</a:t>
            </a:r>
          </a:p>
          <a:p>
            <a:pPr algn="ctr"/>
            <a:r>
              <a:rPr sz="1050" b="1">
                <a:solidFill>
                  <a:srgbClr val="1F4A63"/>
                </a:solidFill>
                <a:latin typeface="Arial"/>
              </a:rPr>
              <a:t>Institucional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70832"/>
            <a:ext cx="146304" cy="146304"/>
          </a:xfrm>
          <a:prstGeom prst="roundRect">
            <a:avLst/>
          </a:prstGeom>
          <a:solidFill>
            <a:srgbClr val="264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370832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A33"/>
                </a:solidFill>
                <a:latin typeface="Arial"/>
              </a:rPr>
              <a:t>Eixo 1 · Soberania, Defesa e Presença Estatal Integrada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08576"/>
            <a:ext cx="146304" cy="146304"/>
          </a:xfrm>
          <a:prstGeom prst="roundRect">
            <a:avLst/>
          </a:prstGeom>
          <a:solidFill>
            <a:srgbClr val="D6DE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60857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A33"/>
                </a:solidFill>
                <a:latin typeface="Arial"/>
              </a:rPr>
              <a:t>Eixo 2 · Bioeconomia e Economias Ilícitas na Amazônia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46320"/>
            <a:ext cx="146304" cy="146304"/>
          </a:xfrm>
          <a:prstGeom prst="roundRect">
            <a:avLst/>
          </a:prstGeom>
          <a:solidFill>
            <a:srgbClr val="1292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84632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A33"/>
                </a:solidFill>
                <a:latin typeface="Arial"/>
              </a:rPr>
              <a:t>Eixo 3 · Governança e Fortalecimento Institucional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5230368"/>
            <a:ext cx="8046720" cy="0"/>
          </a:xfrm>
          <a:prstGeom prst="line">
            <a:avLst/>
          </a:prstGeom>
          <a:ln w="9525">
            <a:solidFill>
              <a:srgbClr val="E3E7EA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548640" y="535838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780"/>
                </a:solidFill>
                <a:latin typeface="Arial"/>
              </a:rPr>
              <a:t>Fonte: Centro Soberania e Clima.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